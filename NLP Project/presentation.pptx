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900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vinash Padghan" userId="dc5487dfedacbf98" providerId="LiveId" clId="{5B60EC11-AC1D-4537-8C02-BF2480B8A554}"/>
    <pc:docChg chg="custSel modSld">
      <pc:chgData name="Avinash Padghan" userId="dc5487dfedacbf98" providerId="LiveId" clId="{5B60EC11-AC1D-4537-8C02-BF2480B8A554}" dt="2026-09-06T05:56:26.397" v="99" actId="1037"/>
      <pc:docMkLst>
        <pc:docMk/>
      </pc:docMkLst>
      <pc:sldChg chg="modSp mod">
        <pc:chgData name="Avinash Padghan" userId="dc5487dfedacbf98" providerId="LiveId" clId="{5B60EC11-AC1D-4537-8C02-BF2480B8A554}" dt="2026-09-06T05:56:26.397" v="99" actId="1037"/>
        <pc:sldMkLst>
          <pc:docMk/>
          <pc:sldMk cId="0" sldId="256"/>
        </pc:sldMkLst>
        <pc:spChg chg="mod">
          <ac:chgData name="Avinash Padghan" userId="dc5487dfedacbf98" providerId="LiveId" clId="{5B60EC11-AC1D-4537-8C02-BF2480B8A554}" dt="2026-09-06T05:55:36.787" v="13" actId="14100"/>
          <ac:spMkLst>
            <pc:docMk/>
            <pc:sldMk cId="0" sldId="256"/>
            <ac:spMk id="9" creationId="{00000000-0000-0000-0000-000000000000}"/>
          </ac:spMkLst>
        </pc:spChg>
        <pc:spChg chg="mod">
          <ac:chgData name="Avinash Padghan" userId="dc5487dfedacbf98" providerId="LiveId" clId="{5B60EC11-AC1D-4537-8C02-BF2480B8A554}" dt="2026-09-06T05:56:10.152" v="66" actId="1038"/>
          <ac:spMkLst>
            <pc:docMk/>
            <pc:sldMk cId="0" sldId="256"/>
            <ac:spMk id="10" creationId="{00000000-0000-0000-0000-000000000000}"/>
          </ac:spMkLst>
        </pc:spChg>
        <pc:spChg chg="mod">
          <ac:chgData name="Avinash Padghan" userId="dc5487dfedacbf98" providerId="LiveId" clId="{5B60EC11-AC1D-4537-8C02-BF2480B8A554}" dt="2026-09-06T05:56:26.397" v="99" actId="1037"/>
          <ac:spMkLst>
            <pc:docMk/>
            <pc:sldMk cId="0" sldId="256"/>
            <ac:spMk id="12" creationId="{00000000-0000-0000-0000-000000000000}"/>
          </ac:spMkLst>
        </pc:spChg>
        <pc:picChg chg="mod">
          <ac:chgData name="Avinash Padghan" userId="dc5487dfedacbf98" providerId="LiveId" clId="{5B60EC11-AC1D-4537-8C02-BF2480B8A554}" dt="2026-09-06T05:55:54.271" v="18" actId="1038"/>
          <ac:picMkLst>
            <pc:docMk/>
            <pc:sldMk cId="0" sldId="256"/>
            <ac:picMk id="11" creationId="{00000000-0000-0000-0000-000000000000}"/>
          </ac:picMkLst>
        </pc:picChg>
      </pc:sldChg>
      <pc:sldChg chg="modSp mod">
        <pc:chgData name="Avinash Padghan" userId="dc5487dfedacbf98" providerId="LiveId" clId="{5B60EC11-AC1D-4537-8C02-BF2480B8A554}" dt="2026-09-06T05:53:35.504" v="1" actId="1076"/>
        <pc:sldMkLst>
          <pc:docMk/>
          <pc:sldMk cId="0" sldId="259"/>
        </pc:sldMkLst>
        <pc:spChg chg="mod">
          <ac:chgData name="Avinash Padghan" userId="dc5487dfedacbf98" providerId="LiveId" clId="{5B60EC11-AC1D-4537-8C02-BF2480B8A554}" dt="2026-09-06T05:53:32.304" v="0" actId="1076"/>
          <ac:spMkLst>
            <pc:docMk/>
            <pc:sldMk cId="0" sldId="259"/>
            <ac:spMk id="12" creationId="{00000000-0000-0000-0000-000000000000}"/>
          </ac:spMkLst>
        </pc:spChg>
        <pc:spChg chg="mod">
          <ac:chgData name="Avinash Padghan" userId="dc5487dfedacbf98" providerId="LiveId" clId="{5B60EC11-AC1D-4537-8C02-BF2480B8A554}" dt="2026-09-06T05:53:35.504" v="1" actId="1076"/>
          <ac:spMkLst>
            <pc:docMk/>
            <pc:sldMk cId="0" sldId="259"/>
            <ac:spMk id="13" creationId="{00000000-0000-0000-0000-000000000000}"/>
          </ac:spMkLst>
        </pc:spChg>
      </pc:sldChg>
      <pc:sldChg chg="delSp mod">
        <pc:chgData name="Avinash Padghan" userId="dc5487dfedacbf98" providerId="LiveId" clId="{5B60EC11-AC1D-4537-8C02-BF2480B8A554}" dt="2026-09-06T05:53:59.057" v="2" actId="478"/>
        <pc:sldMkLst>
          <pc:docMk/>
          <pc:sldMk cId="0" sldId="263"/>
        </pc:sldMkLst>
        <pc:spChg chg="del">
          <ac:chgData name="Avinash Padghan" userId="dc5487dfedacbf98" providerId="LiveId" clId="{5B60EC11-AC1D-4537-8C02-BF2480B8A554}" dt="2026-09-06T05:53:59.057" v="2" actId="478"/>
          <ac:spMkLst>
            <pc:docMk/>
            <pc:sldMk cId="0" sldId="263"/>
            <ac:spMk id="23" creationId="{00000000-0000-0000-0000-000000000000}"/>
          </ac:spMkLst>
        </pc:spChg>
      </pc:sldChg>
      <pc:sldChg chg="delSp modSp mod">
        <pc:chgData name="Avinash Padghan" userId="dc5487dfedacbf98" providerId="LiveId" clId="{5B60EC11-AC1D-4537-8C02-BF2480B8A554}" dt="2026-09-06T05:54:47.803" v="9" actId="14100"/>
        <pc:sldMkLst>
          <pc:docMk/>
          <pc:sldMk cId="0" sldId="268"/>
        </pc:sldMkLst>
        <pc:spChg chg="del">
          <ac:chgData name="Avinash Padghan" userId="dc5487dfedacbf98" providerId="LiveId" clId="{5B60EC11-AC1D-4537-8C02-BF2480B8A554}" dt="2026-09-06T05:54:24.025" v="4" actId="478"/>
          <ac:spMkLst>
            <pc:docMk/>
            <pc:sldMk cId="0" sldId="268"/>
            <ac:spMk id="5" creationId="{00000000-0000-0000-0000-000000000000}"/>
          </ac:spMkLst>
        </pc:spChg>
        <pc:picChg chg="mod">
          <ac:chgData name="Avinash Padghan" userId="dc5487dfedacbf98" providerId="LiveId" clId="{5B60EC11-AC1D-4537-8C02-BF2480B8A554}" dt="2026-09-06T05:54:47.803" v="9" actId="14100"/>
          <ac:picMkLst>
            <pc:docMk/>
            <pc:sldMk cId="0" sldId="268"/>
            <ac:picMk id="6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" y="640080"/>
            <a:ext cx="82296" cy="539496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097280"/>
            <a:ext cx="9875520" cy="6858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Aptos"/>
              </a:rPr>
              <a:t>SKILLSENSE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901952"/>
            <a:ext cx="9601200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300" b="1">
                <a:solidFill>
                  <a:srgbClr val="F97316"/>
                </a:solidFill>
                <a:latin typeface="Aptos"/>
              </a:rPr>
              <a:t>INTELLIGENT JOB SKILL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2542032"/>
            <a:ext cx="8961120" cy="9144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100" b="0">
                <a:solidFill>
                  <a:srgbClr val="E2E8F0"/>
                </a:solidFill>
                <a:latin typeface="Aptos"/>
              </a:rPr>
              <a:t>An NLP-Based System for Extracting and Analyzing
Skills from Job Descriptions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4983480"/>
            <a:ext cx="640080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PRESENTED BY: AVINASH PADGHAN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5715000"/>
            <a:ext cx="640080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>
                <a:solidFill>
                  <a:srgbClr val="94A3B8"/>
                </a:solidFill>
                <a:latin typeface="Aptos"/>
              </a:rPr>
              <a:t>AI  •  NLP  •  SKILL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73952"/>
            <a:ext cx="1078992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SkillSense  •  Intelligent Job Skill Analysis  | 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97213" y="960120"/>
            <a:ext cx="4504452" cy="4434840"/>
          </a:xfrm>
          <a:prstGeom prst="roundRect">
            <a:avLst/>
          </a:prstGeom>
          <a:solidFill>
            <a:srgbClr val="173B63"/>
          </a:solidFill>
          <a:ln>
            <a:solidFill>
              <a:srgbClr val="17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70011" y="1170432"/>
            <a:ext cx="2359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97316"/>
                </a:solidFill>
                <a:latin typeface="Aptos"/>
              </a:rPr>
              <a:t>WEB APPLICATION</a:t>
            </a:r>
          </a:p>
        </p:txBody>
      </p:sp>
      <p:pic>
        <p:nvPicPr>
          <p:cNvPr id="11" name="Picture 10" descr="2f78b7c0-bb15-428e-8d64-c9751d11396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3690" y="1627632"/>
            <a:ext cx="4146754" cy="32461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170027" y="5010912"/>
            <a:ext cx="2359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dirty="0">
                <a:solidFill>
                  <a:srgbClr val="94A3B8"/>
                </a:solidFill>
                <a:latin typeface="Aptos"/>
              </a:rPr>
              <a:t>Live project interface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84048"/>
            <a:ext cx="10789920" cy="47548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960120"/>
            <a:ext cx="658368" cy="50292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1234440"/>
            <a:ext cx="10698480" cy="56692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550" b="0">
                <a:solidFill>
                  <a:srgbClr val="E2E8F0"/>
                </a:solidFill>
                <a:latin typeface="Aptos"/>
              </a:rPr>
              <a:t>Job descriptions contain valuable skill information, but extracting and analyzing these skills manually is time-consuming and inconsistent.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257800" cy="1572768"/>
          </a:xfrm>
          <a:prstGeom prst="roundRect">
            <a:avLst/>
          </a:prstGeom>
          <a:solidFill>
            <a:srgbClr val="173B63"/>
          </a:solidFill>
          <a:ln>
            <a:solidFill>
              <a:srgbClr val="17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96112" y="2176272"/>
            <a:ext cx="502920" cy="310896"/>
          </a:xfrm>
          <a:prstGeom prst="round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2185416"/>
            <a:ext cx="502920" cy="24688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489204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650" b="1">
                <a:solidFill>
                  <a:srgbClr val="FFFFFF"/>
                </a:solidFill>
                <a:latin typeface="Aptos"/>
              </a:rPr>
              <a:t>Manual Extraction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54680"/>
            <a:ext cx="489204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20" b="0">
                <a:solidFill>
                  <a:srgbClr val="E2E8F0"/>
                </a:solidFill>
                <a:latin typeface="Aptos"/>
              </a:rPr>
              <a:t>Identifying required skills from lengthy job descriptions requires significant manual effort.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011680"/>
            <a:ext cx="5257800" cy="1572768"/>
          </a:xfrm>
          <a:prstGeom prst="roundRect">
            <a:avLst/>
          </a:prstGeom>
          <a:solidFill>
            <a:srgbClr val="173B63"/>
          </a:solidFill>
          <a:ln>
            <a:solidFill>
              <a:srgbClr val="17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336792" y="2176272"/>
            <a:ext cx="502920" cy="310896"/>
          </a:xfrm>
          <a:prstGeom prst="round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36792" y="2185416"/>
            <a:ext cx="502920" cy="24688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651760"/>
            <a:ext cx="489204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650" b="1">
                <a:solidFill>
                  <a:srgbClr val="FFFFFF"/>
                </a:solidFill>
                <a:latin typeface="Aptos"/>
              </a:rPr>
              <a:t>Unstructured Information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3154680"/>
            <a:ext cx="489204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20" b="0">
                <a:solidFill>
                  <a:srgbClr val="E2E8F0"/>
                </a:solidFill>
                <a:latin typeface="Aptos"/>
              </a:rPr>
              <a:t>Skills are mixed with responsibilities, qualifications, experience, and tools.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886200"/>
            <a:ext cx="5257800" cy="1572768"/>
          </a:xfrm>
          <a:prstGeom prst="roundRect">
            <a:avLst/>
          </a:prstGeom>
          <a:solidFill>
            <a:srgbClr val="173B63"/>
          </a:solidFill>
          <a:ln>
            <a:solidFill>
              <a:srgbClr val="17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96112" y="4050791"/>
            <a:ext cx="502920" cy="310896"/>
          </a:xfrm>
          <a:prstGeom prst="round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6112" y="4059936"/>
            <a:ext cx="502920" cy="24688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526280"/>
            <a:ext cx="489204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650" b="1">
                <a:solidFill>
                  <a:srgbClr val="FFFFFF"/>
                </a:solidFill>
                <a:latin typeface="Aptos"/>
              </a:rPr>
              <a:t>Difficult at Scale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029200"/>
            <a:ext cx="489204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20" b="0">
                <a:solidFill>
                  <a:srgbClr val="E2E8F0"/>
                </a:solidFill>
                <a:latin typeface="Aptos"/>
              </a:rPr>
              <a:t>Analyzing large volumes of job descriptions manually is inefficient.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886200"/>
            <a:ext cx="5257800" cy="1572768"/>
          </a:xfrm>
          <a:prstGeom prst="roundRect">
            <a:avLst/>
          </a:prstGeom>
          <a:solidFill>
            <a:srgbClr val="173B63"/>
          </a:solidFill>
          <a:ln>
            <a:solidFill>
              <a:srgbClr val="17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336792" y="4050791"/>
            <a:ext cx="502920" cy="310896"/>
          </a:xfrm>
          <a:prstGeom prst="round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36792" y="4059936"/>
            <a:ext cx="502920" cy="24688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4526280"/>
            <a:ext cx="489204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650" b="1">
                <a:solidFill>
                  <a:srgbClr val="FFFFFF"/>
                </a:solidFill>
                <a:latin typeface="Aptos"/>
              </a:rPr>
              <a:t>Limited Context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5029200"/>
            <a:ext cx="489204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20" b="0">
                <a:solidFill>
                  <a:srgbClr val="E2E8F0"/>
                </a:solidFill>
                <a:latin typeface="Aptos"/>
              </a:rPr>
              <a:t>Keyword-based methods can miss related or context-specific skills.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806440"/>
            <a:ext cx="10698480" cy="457200"/>
          </a:xfrm>
          <a:prstGeom prst="roundRect">
            <a:avLst/>
          </a:prstGeom>
          <a:solidFill>
            <a:srgbClr val="173B63"/>
          </a:solidFill>
          <a:ln>
            <a:solidFill>
              <a:srgbClr val="17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4400" y="5897880"/>
            <a:ext cx="103327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PROJECT NEED  →  Automate skill extraction, categorization and analysis using NLP.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6473952"/>
            <a:ext cx="1078992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SkillSense  •  Intelligent Job Skill Analysis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84048"/>
            <a:ext cx="10789920" cy="47548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BUSINESS USE CASE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960120"/>
            <a:ext cx="658368" cy="50292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1234440"/>
            <a:ext cx="10698480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600" b="0">
                <a:solidFill>
                  <a:srgbClr val="E2E8F0"/>
                </a:solidFill>
                <a:latin typeface="Aptos"/>
              </a:rPr>
              <a:t>Turning unstructured job descriptions into actionable skill insights.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65960"/>
            <a:ext cx="2240280" cy="2880360"/>
          </a:xfrm>
          <a:prstGeom prst="roundRect">
            <a:avLst/>
          </a:prstGeom>
          <a:solidFill>
            <a:srgbClr val="173B63"/>
          </a:solidFill>
          <a:ln>
            <a:solidFill>
              <a:srgbClr val="17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194560"/>
            <a:ext cx="50292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>
                <a:solidFill>
                  <a:srgbClr val="F97316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670048"/>
            <a:ext cx="1911095" cy="6583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450" b="1">
                <a:solidFill>
                  <a:srgbClr val="FFFFFF"/>
                </a:solidFill>
                <a:latin typeface="Aptos"/>
              </a:rPr>
              <a:t>Recruitment &amp; Hiring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493008"/>
            <a:ext cx="1874519" cy="9601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120" b="0">
                <a:solidFill>
                  <a:srgbClr val="E2E8F0"/>
                </a:solidFill>
                <a:latin typeface="Aptos"/>
              </a:rPr>
              <a:t>Support faster screening by identifying required skills.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1965960"/>
            <a:ext cx="2240280" cy="2880360"/>
          </a:xfrm>
          <a:prstGeom prst="roundRect">
            <a:avLst/>
          </a:prstGeom>
          <a:solidFill>
            <a:srgbClr val="173B63"/>
          </a:solidFill>
          <a:ln>
            <a:solidFill>
              <a:srgbClr val="17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03320" y="2194560"/>
            <a:ext cx="50292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>
                <a:solidFill>
                  <a:srgbClr val="F97316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5032" y="2670048"/>
            <a:ext cx="1911095" cy="6583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450" b="1">
                <a:solidFill>
                  <a:srgbClr val="FFFFFF"/>
                </a:solidFill>
                <a:latin typeface="Aptos"/>
              </a:rPr>
              <a:t>Skill Gap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3493008"/>
            <a:ext cx="1874519" cy="9601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120" b="0">
                <a:solidFill>
                  <a:srgbClr val="E2E8F0"/>
                </a:solidFill>
                <a:latin typeface="Aptos"/>
              </a:rPr>
              <a:t>Compare job requirements with candidate skill profiles.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1965960"/>
            <a:ext cx="2240280" cy="2880360"/>
          </a:xfrm>
          <a:prstGeom prst="roundRect">
            <a:avLst/>
          </a:prstGeom>
          <a:solidFill>
            <a:srgbClr val="173B63"/>
          </a:solidFill>
          <a:ln>
            <a:solidFill>
              <a:srgbClr val="17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29400" y="2194560"/>
            <a:ext cx="50292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>
                <a:solidFill>
                  <a:srgbClr val="F97316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1112" y="2670048"/>
            <a:ext cx="1911095" cy="6583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450" b="1">
                <a:solidFill>
                  <a:srgbClr val="FFFFFF"/>
                </a:solidFill>
                <a:latin typeface="Aptos"/>
              </a:rPr>
              <a:t>Job Market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3493008"/>
            <a:ext cx="1874519" cy="9601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120" b="0">
                <a:solidFill>
                  <a:srgbClr val="E2E8F0"/>
                </a:solidFill>
                <a:latin typeface="Aptos"/>
              </a:rPr>
              <a:t>Study skill demand across roles and technologies.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1965960"/>
            <a:ext cx="2240280" cy="2880360"/>
          </a:xfrm>
          <a:prstGeom prst="roundRect">
            <a:avLst/>
          </a:prstGeom>
          <a:solidFill>
            <a:srgbClr val="173B63"/>
          </a:solidFill>
          <a:ln>
            <a:solidFill>
              <a:srgbClr val="17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555480" y="2194560"/>
            <a:ext cx="50292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>
                <a:solidFill>
                  <a:srgbClr val="F97316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37192" y="2670048"/>
            <a:ext cx="1911095" cy="6583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450" b="1">
                <a:solidFill>
                  <a:srgbClr val="FFFFFF"/>
                </a:solidFill>
                <a:latin typeface="Aptos"/>
              </a:rPr>
              <a:t>Career &amp; Learning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55480" y="3493008"/>
            <a:ext cx="1874519" cy="9601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120" b="0">
                <a:solidFill>
                  <a:srgbClr val="E2E8F0"/>
                </a:solidFill>
                <a:latin typeface="Aptos"/>
              </a:rPr>
              <a:t>Guide relevant upskilling and learning decisions.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257800"/>
            <a:ext cx="10698480" cy="658368"/>
          </a:xfrm>
          <a:prstGeom prst="round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5449824"/>
            <a:ext cx="14173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Aptos"/>
              </a:rPr>
              <a:t>BUSINESS VALUE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5413248"/>
            <a:ext cx="87325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250" b="1">
                <a:solidFill>
                  <a:srgbClr val="0B1F3A"/>
                </a:solidFill>
                <a:latin typeface="Aptos"/>
              </a:rPr>
              <a:t>Faster Analysis   •   Better Skill Insights   •   Data-Driven Decisions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473952"/>
            <a:ext cx="1078992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SkillSense  •  Intelligent Job Skill Analysis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84048"/>
            <a:ext cx="10789920" cy="47548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DATASET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960120"/>
            <a:ext cx="658368" cy="50292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3657600" cy="4343400"/>
          </a:xfrm>
          <a:prstGeom prst="roundRect">
            <a:avLst/>
          </a:prstGeom>
          <a:solidFill>
            <a:srgbClr val="173B63"/>
          </a:solidFill>
          <a:ln>
            <a:solidFill>
              <a:srgbClr val="17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" y="1783080"/>
            <a:ext cx="292608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1">
                <a:solidFill>
                  <a:srgbClr val="94A3B8"/>
                </a:solidFill>
                <a:latin typeface="Aptos"/>
              </a:rPr>
              <a:t>TOTAL RECORDS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3108960" cy="7315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4300" b="1">
                <a:solidFill>
                  <a:srgbClr val="F97316"/>
                </a:solidFill>
                <a:latin typeface="Aptos"/>
              </a:rPr>
              <a:t>4,318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108960"/>
            <a:ext cx="274320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job descriptions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703320"/>
            <a:ext cx="2926080" cy="1417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50" b="0">
                <a:solidFill>
                  <a:srgbClr val="E2E8F0"/>
                </a:solidFill>
                <a:latin typeface="Aptos"/>
              </a:rPr>
              <a:t>DOMAIN
Job &amp; Recruitment
PRIMARY TASK
Skill extraction &amp; analysis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1417320"/>
            <a:ext cx="6720840" cy="1874519"/>
          </a:xfrm>
          <a:prstGeom prst="roundRect">
            <a:avLst/>
          </a:prstGeom>
          <a:solidFill>
            <a:srgbClr val="173B63"/>
          </a:solidFill>
          <a:ln>
            <a:solidFill>
              <a:srgbClr val="17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919472" y="1581912"/>
            <a:ext cx="502920" cy="310896"/>
          </a:xfrm>
          <a:prstGeom prst="round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919472" y="1591056"/>
            <a:ext cx="502920" cy="24688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1969500"/>
            <a:ext cx="6355079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650" b="1">
                <a:solidFill>
                  <a:srgbClr val="FFFFFF"/>
                </a:solidFill>
                <a:latin typeface="Aptos"/>
              </a:rPr>
              <a:t>DATA CONTENT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19472" y="2444694"/>
            <a:ext cx="6355079" cy="594359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20" b="0" dirty="0">
                <a:solidFill>
                  <a:srgbClr val="E2E8F0"/>
                </a:solidFill>
                <a:latin typeface="Aptos"/>
              </a:rPr>
              <a:t>• Job descriptions
• Job roles / titles
• Education and experience information
• Required skills and technologies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0" y="3566160"/>
            <a:ext cx="6720840" cy="2194560"/>
          </a:xfrm>
          <a:prstGeom prst="roundRect">
            <a:avLst/>
          </a:prstGeom>
          <a:solidFill>
            <a:srgbClr val="173B63"/>
          </a:solidFill>
          <a:ln>
            <a:solidFill>
              <a:srgbClr val="17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919472" y="3730752"/>
            <a:ext cx="502920" cy="310896"/>
          </a:xfrm>
          <a:prstGeom prst="round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919472" y="3739896"/>
            <a:ext cx="502920" cy="24688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4206240"/>
            <a:ext cx="6355079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650" b="1">
                <a:solidFill>
                  <a:srgbClr val="FFFFFF"/>
                </a:solidFill>
                <a:latin typeface="Aptos"/>
              </a:rPr>
              <a:t>TARGET 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4709160"/>
            <a:ext cx="6355079" cy="9144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20" b="0">
                <a:solidFill>
                  <a:srgbClr val="E2E8F0"/>
                </a:solidFill>
                <a:latin typeface="Aptos"/>
              </a:rPr>
              <a:t>Structured skill information extracted from unstructured job-description text for downstream analysis and modeling.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6473952"/>
            <a:ext cx="1078992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SkillSense  •  Intelligent Job Skill Analysis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84048"/>
            <a:ext cx="10789920" cy="47548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DATA CLEANING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960120"/>
            <a:ext cx="658368" cy="50292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1993392" cy="2560320"/>
          </a:xfrm>
          <a:prstGeom prst="roundRect">
            <a:avLst/>
          </a:prstGeom>
          <a:solidFill>
            <a:srgbClr val="173B63"/>
          </a:solidFill>
          <a:ln>
            <a:solidFill>
              <a:srgbClr val="17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2011680"/>
            <a:ext cx="45720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>
                <a:solidFill>
                  <a:srgbClr val="F97316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2514600"/>
            <a:ext cx="1664208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Raw 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3200400"/>
            <a:ext cx="1664208" cy="8686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150" b="0">
                <a:solidFill>
                  <a:srgbClr val="E2E8F0"/>
                </a:solidFill>
                <a:latin typeface="Aptos"/>
              </a:rPr>
              <a:t>Original job descriptions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50592" y="2761488"/>
            <a:ext cx="32004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900" b="1">
                <a:solidFill>
                  <a:srgbClr val="F97316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98064" y="1828800"/>
            <a:ext cx="1993392" cy="2560320"/>
          </a:xfrm>
          <a:prstGeom prst="roundRect">
            <a:avLst/>
          </a:prstGeom>
          <a:solidFill>
            <a:srgbClr val="173B63"/>
          </a:solidFill>
          <a:ln>
            <a:solidFill>
              <a:srgbClr val="17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62656" y="2011680"/>
            <a:ext cx="45720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>
                <a:solidFill>
                  <a:srgbClr val="F97316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62656" y="2514600"/>
            <a:ext cx="1664208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Text Cleaning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62656" y="3200400"/>
            <a:ext cx="1664208" cy="8686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150" b="0">
                <a:solidFill>
                  <a:srgbClr val="E2E8F0"/>
                </a:solidFill>
                <a:latin typeface="Aptos"/>
              </a:rPr>
              <a:t>Remove noise, normalize text and whitespace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91456" y="2761488"/>
            <a:ext cx="32004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900" b="1">
                <a:solidFill>
                  <a:srgbClr val="F97316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38928" y="1828800"/>
            <a:ext cx="1993392" cy="2560320"/>
          </a:xfrm>
          <a:prstGeom prst="roundRect">
            <a:avLst/>
          </a:prstGeom>
          <a:solidFill>
            <a:srgbClr val="173B63"/>
          </a:solidFill>
          <a:ln>
            <a:solidFill>
              <a:srgbClr val="17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03520" y="2011680"/>
            <a:ext cx="45720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>
                <a:solidFill>
                  <a:srgbClr val="F97316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2514600"/>
            <a:ext cx="1664208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Preprocessing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3200400"/>
            <a:ext cx="1664208" cy="8686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150" b="0">
                <a:solidFill>
                  <a:srgbClr val="E2E8F0"/>
                </a:solidFill>
                <a:latin typeface="Aptos"/>
              </a:rPr>
              <a:t>Prepare text for NLP feature extraction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2761488"/>
            <a:ext cx="32004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900" b="1">
                <a:solidFill>
                  <a:srgbClr val="F97316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79792" y="1828800"/>
            <a:ext cx="1993392" cy="2560320"/>
          </a:xfrm>
          <a:prstGeom prst="roundRect">
            <a:avLst/>
          </a:prstGeom>
          <a:solidFill>
            <a:srgbClr val="173B63"/>
          </a:solidFill>
          <a:ln>
            <a:solidFill>
              <a:srgbClr val="17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44383" y="2011680"/>
            <a:ext cx="45720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>
                <a:solidFill>
                  <a:srgbClr val="F97316"/>
                </a:solidFill>
                <a:latin typeface="Apto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44383" y="2514600"/>
            <a:ext cx="1664208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Skill Normalization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44383" y="3200400"/>
            <a:ext cx="1664208" cy="8686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150" b="0">
                <a:solidFill>
                  <a:srgbClr val="E2E8F0"/>
                </a:solidFill>
                <a:latin typeface="Aptos"/>
              </a:rPr>
              <a:t>Standardize skill names and variants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73184" y="2761488"/>
            <a:ext cx="32004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900" b="1">
                <a:solidFill>
                  <a:srgbClr val="F97316"/>
                </a:solidFill>
                <a:latin typeface="Apto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820656" y="1828800"/>
            <a:ext cx="1993392" cy="2560320"/>
          </a:xfrm>
          <a:prstGeom prst="roundRect">
            <a:avLst/>
          </a:prstGeom>
          <a:solidFill>
            <a:srgbClr val="173B63"/>
          </a:solidFill>
          <a:ln>
            <a:solidFill>
              <a:srgbClr val="17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985248" y="2011680"/>
            <a:ext cx="45720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>
                <a:solidFill>
                  <a:srgbClr val="F97316"/>
                </a:solidFill>
                <a:latin typeface="Aptos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85248" y="2514600"/>
            <a:ext cx="1664208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Clean Dataset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85248" y="3200400"/>
            <a:ext cx="1664208" cy="8686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150" b="0">
                <a:solidFill>
                  <a:srgbClr val="E2E8F0"/>
                </a:solidFill>
                <a:latin typeface="Aptos"/>
              </a:rPr>
              <a:t>Ready for analysis and modeling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4983480"/>
            <a:ext cx="10698480" cy="640080"/>
          </a:xfrm>
          <a:prstGeom prst="round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14400" y="5175504"/>
            <a:ext cx="1033272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300" b="1">
                <a:solidFill>
                  <a:srgbClr val="0B1F3A"/>
                </a:solidFill>
                <a:latin typeface="Aptos"/>
              </a:rPr>
              <a:t>Goal: improve consistency, reduce noise and make the text suitable for NLP models.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6473952"/>
            <a:ext cx="1078992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SkillSense  •  Intelligent Job Skill Analysis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84048"/>
            <a:ext cx="10789920" cy="47548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EXPLORATORY DATA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960120"/>
            <a:ext cx="658368" cy="50292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1234440"/>
            <a:ext cx="10698480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600" b="0">
                <a:solidFill>
                  <a:srgbClr val="E2E8F0"/>
                </a:solidFill>
                <a:latin typeface="Aptos"/>
              </a:rPr>
              <a:t>Understanding the dataset before building NLP models.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5257800" cy="1645920"/>
          </a:xfrm>
          <a:prstGeom prst="roundRect">
            <a:avLst/>
          </a:prstGeom>
          <a:solidFill>
            <a:srgbClr val="173B63"/>
          </a:solidFill>
          <a:ln>
            <a:solidFill>
              <a:srgbClr val="17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96112" y="2084832"/>
            <a:ext cx="502920" cy="310896"/>
          </a:xfrm>
          <a:prstGeom prst="round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2093976"/>
            <a:ext cx="502920" cy="24688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489204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650" b="1">
                <a:solidFill>
                  <a:srgbClr val="FFFFFF"/>
                </a:solidFill>
                <a:latin typeface="Aptos"/>
              </a:rPr>
              <a:t>Job Roles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63240"/>
            <a:ext cx="4892040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20" b="0">
                <a:solidFill>
                  <a:srgbClr val="E2E8F0"/>
                </a:solidFill>
                <a:latin typeface="Aptos"/>
              </a:rPr>
              <a:t>Distribution of job titles and role categories.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920240"/>
            <a:ext cx="5257800" cy="1645920"/>
          </a:xfrm>
          <a:prstGeom prst="roundRect">
            <a:avLst/>
          </a:prstGeom>
          <a:solidFill>
            <a:srgbClr val="173B63"/>
          </a:solidFill>
          <a:ln>
            <a:solidFill>
              <a:srgbClr val="17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336792" y="2084832"/>
            <a:ext cx="502920" cy="310896"/>
          </a:xfrm>
          <a:prstGeom prst="round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36792" y="2093976"/>
            <a:ext cx="502920" cy="24688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560320"/>
            <a:ext cx="489204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650" b="1">
                <a:solidFill>
                  <a:srgbClr val="FFFFFF"/>
                </a:solidFill>
                <a:latin typeface="Aptos"/>
              </a:rPr>
              <a:t>Education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3063240"/>
            <a:ext cx="4892040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20" b="0">
                <a:solidFill>
                  <a:srgbClr val="E2E8F0"/>
                </a:solidFill>
                <a:latin typeface="Aptos"/>
              </a:rPr>
              <a:t>Comparison of education requirements across records.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886200"/>
            <a:ext cx="5257800" cy="1645920"/>
          </a:xfrm>
          <a:prstGeom prst="roundRect">
            <a:avLst/>
          </a:prstGeom>
          <a:solidFill>
            <a:srgbClr val="173B63"/>
          </a:solidFill>
          <a:ln>
            <a:solidFill>
              <a:srgbClr val="17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96112" y="4050791"/>
            <a:ext cx="502920" cy="310896"/>
          </a:xfrm>
          <a:prstGeom prst="round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6112" y="4059936"/>
            <a:ext cx="502920" cy="24688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526280"/>
            <a:ext cx="489204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650" b="1">
                <a:solidFill>
                  <a:srgbClr val="FFFFFF"/>
                </a:solidFill>
                <a:latin typeface="Aptos"/>
              </a:rPr>
              <a:t>Skill Demand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029200"/>
            <a:ext cx="4892040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20" b="0">
                <a:solidFill>
                  <a:srgbClr val="E2E8F0"/>
                </a:solidFill>
                <a:latin typeface="Aptos"/>
              </a:rPr>
              <a:t>Frequency of commonly required skills.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886200"/>
            <a:ext cx="5257800" cy="1645920"/>
          </a:xfrm>
          <a:prstGeom prst="roundRect">
            <a:avLst/>
          </a:prstGeom>
          <a:solidFill>
            <a:srgbClr val="173B63"/>
          </a:solidFill>
          <a:ln>
            <a:solidFill>
              <a:srgbClr val="17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336792" y="4050791"/>
            <a:ext cx="502920" cy="310896"/>
          </a:xfrm>
          <a:prstGeom prst="round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36792" y="4059936"/>
            <a:ext cx="502920" cy="24688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4526280"/>
            <a:ext cx="489204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650" b="1">
                <a:solidFill>
                  <a:srgbClr val="FFFFFF"/>
                </a:solidFill>
                <a:latin typeface="Aptos"/>
              </a:rPr>
              <a:t>Text Characteristics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5029200"/>
            <a:ext cx="4892040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20" b="0">
                <a:solidFill>
                  <a:srgbClr val="E2E8F0"/>
                </a:solidFill>
                <a:latin typeface="Aptos"/>
              </a:rPr>
              <a:t>Length and content patterns in job descriptions.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806440"/>
            <a:ext cx="10698480" cy="457200"/>
          </a:xfrm>
          <a:prstGeom prst="roundRect">
            <a:avLst/>
          </a:prstGeom>
          <a:solidFill>
            <a:srgbClr val="173B63"/>
          </a:solidFill>
          <a:ln>
            <a:solidFill>
              <a:srgbClr val="17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4400" y="5897880"/>
            <a:ext cx="103327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EDA INSIGHT  →  These patterns help define useful features, categories and dashboard views.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6473952"/>
            <a:ext cx="1078992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SkillSense  •  Intelligent Job Skill Analysis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84048"/>
            <a:ext cx="10789920" cy="47548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NLP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960120"/>
            <a:ext cx="658368" cy="50292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11480" y="2240280"/>
            <a:ext cx="1691640" cy="1234440"/>
          </a:xfrm>
          <a:prstGeom prst="roundRect">
            <a:avLst/>
          </a:prstGeom>
          <a:solidFill>
            <a:srgbClr val="173B63"/>
          </a:solidFill>
          <a:ln>
            <a:solidFill>
              <a:srgbClr val="17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21208" y="2423160"/>
            <a:ext cx="41148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>
                <a:solidFill>
                  <a:srgbClr val="F97316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" y="2816352"/>
            <a:ext cx="1463040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Job Description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93976" y="2633472"/>
            <a:ext cx="320040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2000" b="1">
                <a:solidFill>
                  <a:srgbClr val="F97316"/>
                </a:solidFill>
                <a:latin typeface="Aptos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77440" y="2240280"/>
            <a:ext cx="1691640" cy="1234440"/>
          </a:xfrm>
          <a:prstGeom prst="roundRect">
            <a:avLst/>
          </a:prstGeom>
          <a:solidFill>
            <a:srgbClr val="173B63"/>
          </a:solidFill>
          <a:ln>
            <a:solidFill>
              <a:srgbClr val="17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487168" y="2423160"/>
            <a:ext cx="41148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>
                <a:solidFill>
                  <a:srgbClr val="F97316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87168" y="2816352"/>
            <a:ext cx="1463040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Text Preprocessing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59936" y="2633472"/>
            <a:ext cx="320040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2000" b="1">
                <a:solidFill>
                  <a:srgbClr val="F97316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240280"/>
            <a:ext cx="1691640" cy="1234440"/>
          </a:xfrm>
          <a:prstGeom prst="roundRect">
            <a:avLst/>
          </a:prstGeom>
          <a:solidFill>
            <a:srgbClr val="173B63"/>
          </a:solidFill>
          <a:ln>
            <a:solidFill>
              <a:srgbClr val="17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53128" y="2423160"/>
            <a:ext cx="41148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>
                <a:solidFill>
                  <a:srgbClr val="F97316"/>
                </a:solidFill>
                <a:latin typeface="Apto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3128" y="2816352"/>
            <a:ext cx="1463040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Skill Detection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25896" y="2633472"/>
            <a:ext cx="320040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2000" b="1">
                <a:solidFill>
                  <a:srgbClr val="F97316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59" y="2240280"/>
            <a:ext cx="1691640" cy="1234440"/>
          </a:xfrm>
          <a:prstGeom prst="roundRect">
            <a:avLst/>
          </a:prstGeom>
          <a:solidFill>
            <a:srgbClr val="173B63"/>
          </a:solidFill>
          <a:ln>
            <a:solidFill>
              <a:srgbClr val="17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19088" y="2423160"/>
            <a:ext cx="41148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>
                <a:solidFill>
                  <a:srgbClr val="F97316"/>
                </a:solidFill>
                <a:latin typeface="Aptos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2816352"/>
            <a:ext cx="1463040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Feature Extraction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91856" y="2633472"/>
            <a:ext cx="320040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2000" b="1">
                <a:solidFill>
                  <a:srgbClr val="F97316"/>
                </a:solidFill>
                <a:latin typeface="Apto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75319" y="2240280"/>
            <a:ext cx="1691640" cy="1234440"/>
          </a:xfrm>
          <a:prstGeom prst="roundRect">
            <a:avLst/>
          </a:prstGeom>
          <a:solidFill>
            <a:srgbClr val="173B63"/>
          </a:solidFill>
          <a:ln>
            <a:solidFill>
              <a:srgbClr val="17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85047" y="2423160"/>
            <a:ext cx="41148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>
                <a:solidFill>
                  <a:srgbClr val="F97316"/>
                </a:solidFill>
                <a:latin typeface="Aptos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5047" y="2816352"/>
            <a:ext cx="1463040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Modeling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57815" y="2633472"/>
            <a:ext cx="320040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2000" b="1">
                <a:solidFill>
                  <a:srgbClr val="F97316"/>
                </a:solidFill>
                <a:latin typeface="Apto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241280" y="2240280"/>
            <a:ext cx="1691640" cy="1234440"/>
          </a:xfrm>
          <a:prstGeom prst="roundRect">
            <a:avLst/>
          </a:prstGeom>
          <a:solidFill>
            <a:srgbClr val="173B63"/>
          </a:solidFill>
          <a:ln>
            <a:solidFill>
              <a:srgbClr val="17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351007" y="2423160"/>
            <a:ext cx="41148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>
                <a:solidFill>
                  <a:srgbClr val="F97316"/>
                </a:solidFill>
                <a:latin typeface="Aptos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51007" y="2816352"/>
            <a:ext cx="1463040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Skill Insights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5840" y="4663440"/>
            <a:ext cx="10149840" cy="640080"/>
          </a:xfrm>
          <a:prstGeom prst="roundRect">
            <a:avLst/>
          </a:prstGeom>
          <a:solidFill>
            <a:srgbClr val="173B63"/>
          </a:solidFill>
          <a:ln>
            <a:solidFill>
              <a:srgbClr val="17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88720" y="4864608"/>
            <a:ext cx="978408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Rule-Based  •  Machine Learning  •  Transformer-Based NER  •  Skill Normalization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6473952"/>
            <a:ext cx="1078992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SkillSense  •  Intelligent Job Skill Analysis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84048"/>
            <a:ext cx="10789920" cy="47548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RULE-BASED APPROACH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960120"/>
            <a:ext cx="658368" cy="50292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1234440"/>
            <a:ext cx="10698480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600" b="0">
                <a:solidFill>
                  <a:srgbClr val="E2E8F0"/>
                </a:solidFill>
                <a:latin typeface="Aptos"/>
              </a:rPr>
              <a:t>Known-skill matching with dictionary and pattern-based methods.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83080"/>
            <a:ext cx="2606040" cy="2057400"/>
          </a:xfrm>
          <a:prstGeom prst="roundRect">
            <a:avLst/>
          </a:prstGeom>
          <a:solidFill>
            <a:srgbClr val="173B63"/>
          </a:solidFill>
          <a:ln>
            <a:solidFill>
              <a:srgbClr val="17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8952" y="1984248"/>
            <a:ext cx="45720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>
                <a:solidFill>
                  <a:srgbClr val="F97316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450592"/>
            <a:ext cx="224028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Phrase Matching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90672"/>
            <a:ext cx="2212848" cy="5943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150" b="0">
                <a:solidFill>
                  <a:srgbClr val="E2E8F0"/>
                </a:solidFill>
                <a:latin typeface="Aptos"/>
              </a:rPr>
              <a:t>spaCy PhraseMatcher detects known skills and skill phrases.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1783080"/>
            <a:ext cx="2606040" cy="2057400"/>
          </a:xfrm>
          <a:prstGeom prst="roundRect">
            <a:avLst/>
          </a:prstGeom>
          <a:solidFill>
            <a:srgbClr val="173B63"/>
          </a:solidFill>
          <a:ln>
            <a:solidFill>
              <a:srgbClr val="17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822191" y="1984248"/>
            <a:ext cx="45720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>
                <a:solidFill>
                  <a:srgbClr val="F97316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22191" y="2450592"/>
            <a:ext cx="224028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Skill Dictionary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3090672"/>
            <a:ext cx="2212848" cy="5943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150" b="0">
                <a:solidFill>
                  <a:srgbClr val="E2E8F0"/>
                </a:solidFill>
                <a:latin typeface="Aptos"/>
              </a:rPr>
              <a:t>A predefined vocabulary identifies technical and non-technical skill mentions.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20840" y="1783080"/>
            <a:ext cx="2606040" cy="2057400"/>
          </a:xfrm>
          <a:prstGeom prst="roundRect">
            <a:avLst/>
          </a:prstGeom>
          <a:solidFill>
            <a:srgbClr val="173B63"/>
          </a:solidFill>
          <a:ln>
            <a:solidFill>
              <a:srgbClr val="17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85431" y="1984248"/>
            <a:ext cx="45720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>
                <a:solidFill>
                  <a:srgbClr val="F97316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85431" y="2450592"/>
            <a:ext cx="224028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Normalization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090672"/>
            <a:ext cx="2212848" cy="5943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150" b="0">
                <a:solidFill>
                  <a:srgbClr val="E2E8F0"/>
                </a:solidFill>
                <a:latin typeface="Aptos"/>
              </a:rPr>
              <a:t>Detected variants are mapped to standardized skill names.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160520"/>
            <a:ext cx="10927080" cy="1508760"/>
          </a:xfrm>
          <a:prstGeom prst="roundRect">
            <a:avLst/>
          </a:prstGeom>
          <a:solidFill>
            <a:srgbClr val="173B63"/>
          </a:solidFill>
          <a:ln>
            <a:solidFill>
              <a:srgbClr val="17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4370832"/>
            <a:ext cx="292608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1">
                <a:solidFill>
                  <a:srgbClr val="F97316"/>
                </a:solidFill>
                <a:latin typeface="Aptos"/>
              </a:rPr>
              <a:t>SKILL EXTRACTION PERFORMANCE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4754880"/>
            <a:ext cx="11430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Method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4754880"/>
            <a:ext cx="11430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Accuracy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4754880"/>
            <a:ext cx="11430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Precision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41080" y="4754880"/>
            <a:ext cx="11430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Recall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074920"/>
            <a:ext cx="11430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Dictionary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9000" y="5074920"/>
            <a:ext cx="11430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50" b="0">
                <a:solidFill>
                  <a:srgbClr val="E2E8F0"/>
                </a:solidFill>
                <a:latin typeface="Aptos"/>
              </a:rPr>
              <a:t>0.620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5074920"/>
            <a:ext cx="11430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50" b="0">
                <a:solidFill>
                  <a:srgbClr val="E2E8F0"/>
                </a:solidFill>
                <a:latin typeface="Aptos"/>
              </a:rPr>
              <a:t>0.583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5074920"/>
            <a:ext cx="11430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50" b="0">
                <a:solidFill>
                  <a:srgbClr val="E2E8F0"/>
                </a:solidFill>
                <a:latin typeface="Aptos"/>
              </a:rPr>
              <a:t>0.620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41080" y="5074920"/>
            <a:ext cx="11430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50" b="0">
                <a:solidFill>
                  <a:srgbClr val="E2E8F0"/>
                </a:solidFill>
                <a:latin typeface="Aptos"/>
              </a:rPr>
              <a:t>0.601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422392"/>
            <a:ext cx="11430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Regex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29000" y="5422392"/>
            <a:ext cx="11430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50" b="0">
                <a:solidFill>
                  <a:srgbClr val="E2E8F0"/>
                </a:solidFill>
                <a:latin typeface="Aptos"/>
              </a:rPr>
              <a:t>0.052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5422392"/>
            <a:ext cx="11430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50" b="0">
                <a:solidFill>
                  <a:srgbClr val="E2E8F0"/>
                </a:solidFill>
                <a:latin typeface="Aptos"/>
              </a:rPr>
              <a:t>0.567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5422392"/>
            <a:ext cx="11430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50" b="0">
                <a:solidFill>
                  <a:srgbClr val="E2E8F0"/>
                </a:solidFill>
                <a:latin typeface="Aptos"/>
              </a:rPr>
              <a:t>0.052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41080" y="5422392"/>
            <a:ext cx="11430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50" b="0">
                <a:solidFill>
                  <a:srgbClr val="E2E8F0"/>
                </a:solidFill>
                <a:latin typeface="Aptos"/>
              </a:rPr>
              <a:t>0.096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833872"/>
            <a:ext cx="1069848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Aptos"/>
              </a:rPr>
              <a:t>Measured on the final skill extraction comparison.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6473952"/>
            <a:ext cx="1078992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SkillSense  •  Intelligent Job Skill Analysis  |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84048"/>
            <a:ext cx="10789920" cy="47548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MACHINE LEARNING APPROACH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960120"/>
            <a:ext cx="658368" cy="50292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1234440"/>
            <a:ext cx="10698480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TF-IDF + Logistic Regression for skill-category classification.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057400" cy="1097280"/>
          </a:xfrm>
          <a:prstGeom prst="roundRect">
            <a:avLst/>
          </a:prstGeom>
          <a:solidFill>
            <a:srgbClr val="173B63"/>
          </a:solidFill>
          <a:ln>
            <a:solidFill>
              <a:srgbClr val="17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2139696"/>
            <a:ext cx="1874519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JOB 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07208" y="2148840"/>
            <a:ext cx="32004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2000" b="1">
                <a:solidFill>
                  <a:srgbClr val="F97316"/>
                </a:solidFill>
                <a:latin typeface="Aptos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1828800"/>
            <a:ext cx="2057400" cy="1097280"/>
          </a:xfrm>
          <a:prstGeom prst="roundRect">
            <a:avLst/>
          </a:prstGeom>
          <a:solidFill>
            <a:srgbClr val="173B63"/>
          </a:solidFill>
          <a:ln>
            <a:solidFill>
              <a:srgbClr val="17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37560" y="2139696"/>
            <a:ext cx="1874519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TF-IDF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21808" y="2148840"/>
            <a:ext cx="32004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2000" b="1">
                <a:solidFill>
                  <a:srgbClr val="F97316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60720" y="1828800"/>
            <a:ext cx="2057400" cy="1097280"/>
          </a:xfrm>
          <a:prstGeom prst="roundRect">
            <a:avLst/>
          </a:prstGeom>
          <a:solidFill>
            <a:srgbClr val="173B63"/>
          </a:solidFill>
          <a:ln>
            <a:solidFill>
              <a:srgbClr val="17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52159" y="2139696"/>
            <a:ext cx="1874519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LOGISTIC
REGRESSION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36408" y="2148840"/>
            <a:ext cx="32004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2000" b="1">
                <a:solidFill>
                  <a:srgbClr val="F97316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32520" y="1828800"/>
            <a:ext cx="2057400" cy="1097280"/>
          </a:xfrm>
          <a:prstGeom prst="roundRect">
            <a:avLst/>
          </a:prstGeom>
          <a:solidFill>
            <a:srgbClr val="173B63"/>
          </a:solidFill>
          <a:ln>
            <a:solidFill>
              <a:srgbClr val="17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823960" y="2139696"/>
            <a:ext cx="1874519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SKILL
CATEGORY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337560"/>
            <a:ext cx="5212080" cy="2057400"/>
          </a:xfrm>
          <a:prstGeom prst="roundRect">
            <a:avLst/>
          </a:prstGeom>
          <a:solidFill>
            <a:srgbClr val="173B63"/>
          </a:solidFill>
          <a:ln>
            <a:solidFill>
              <a:srgbClr val="17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0120" y="3566160"/>
            <a:ext cx="146304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1">
                <a:solidFill>
                  <a:srgbClr val="F97316"/>
                </a:solidFill>
                <a:latin typeface="Aptos"/>
              </a:rPr>
              <a:t>MODEL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977639"/>
            <a:ext cx="137160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0">
                <a:solidFill>
                  <a:srgbClr val="E2E8F0"/>
                </a:solidFill>
                <a:latin typeface="Aptos"/>
              </a:rPr>
              <a:t>Accuracy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3822191"/>
            <a:ext cx="201168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3000" b="1">
                <a:solidFill>
                  <a:srgbClr val="F97316"/>
                </a:solidFill>
                <a:latin typeface="Aptos"/>
              </a:rPr>
              <a:t>0.2143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617720"/>
            <a:ext cx="438912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tos"/>
              </a:rPr>
              <a:t>14 test samples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337560"/>
            <a:ext cx="5303520" cy="2057400"/>
          </a:xfrm>
          <a:prstGeom prst="roundRect">
            <a:avLst/>
          </a:prstGeom>
          <a:solidFill>
            <a:srgbClr val="173B63"/>
          </a:solidFill>
          <a:ln>
            <a:solidFill>
              <a:srgbClr val="17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0" y="3566160"/>
            <a:ext cx="480060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1">
                <a:solidFill>
                  <a:srgbClr val="F97316"/>
                </a:solidFill>
                <a:latin typeface="Aptos"/>
              </a:rPr>
              <a:t>CLASSIFICATION REPORT — KEY 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041648"/>
            <a:ext cx="4754880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SKILL class: precision 0.21  •  recall 1.00  •  F1 0.35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617720"/>
            <a:ext cx="4754880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150" b="0">
                <a:solidFill>
                  <a:srgbClr val="E2E8F0"/>
                </a:solidFill>
                <a:latin typeface="Aptos"/>
              </a:rPr>
              <a:t>Macro avg F1: 0.04  •  Weighted avg F1: 0.08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473952"/>
            <a:ext cx="1078992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SkillSense  •  Intelligent Job Skill Analysis  |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84048"/>
            <a:ext cx="10789920" cy="47548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TRANSFORMER APPROACH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960120"/>
            <a:ext cx="658368" cy="50292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1234440"/>
            <a:ext cx="10698480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700" b="0">
                <a:solidFill>
                  <a:srgbClr val="E2E8F0"/>
                </a:solidFill>
                <a:latin typeface="Aptos"/>
              </a:rPr>
              <a:t>Entity-level skill extraction using a DistilBERT NER pipeline.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83080"/>
            <a:ext cx="3474720" cy="1874519"/>
          </a:xfrm>
          <a:prstGeom prst="roundRect">
            <a:avLst/>
          </a:prstGeom>
          <a:solidFill>
            <a:srgbClr val="173B63"/>
          </a:solidFill>
          <a:ln>
            <a:solidFill>
              <a:srgbClr val="17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8952" y="1965960"/>
            <a:ext cx="45720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>
                <a:solidFill>
                  <a:srgbClr val="F97316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395728"/>
            <a:ext cx="310896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52928"/>
            <a:ext cx="3017520" cy="5943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150" b="0">
                <a:solidFill>
                  <a:srgbClr val="E2E8F0"/>
                </a:solidFill>
                <a:latin typeface="Aptos"/>
              </a:rPr>
              <a:t>DistilBERT-based NER pipeline using dslim/distilbert-NER.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783080"/>
            <a:ext cx="3474720" cy="1874519"/>
          </a:xfrm>
          <a:prstGeom prst="roundRect">
            <a:avLst/>
          </a:prstGeom>
          <a:solidFill>
            <a:srgbClr val="173B63"/>
          </a:solidFill>
          <a:ln>
            <a:solidFill>
              <a:srgbClr val="17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53712" y="1965960"/>
            <a:ext cx="45720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>
                <a:solidFill>
                  <a:srgbClr val="F97316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2395728"/>
            <a:ext cx="310896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EXTRACTION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852928"/>
            <a:ext cx="3017520" cy="5943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150" b="0">
                <a:solidFill>
                  <a:srgbClr val="E2E8F0"/>
                </a:solidFill>
                <a:latin typeface="Aptos"/>
              </a:rPr>
              <a:t>Token classification identifies entities from job-description text; aggregation groups token pieces.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80" y="1783080"/>
            <a:ext cx="3474720" cy="1874519"/>
          </a:xfrm>
          <a:prstGeom prst="roundRect">
            <a:avLst/>
          </a:prstGeom>
          <a:solidFill>
            <a:srgbClr val="173B63"/>
          </a:solidFill>
          <a:ln>
            <a:solidFill>
              <a:srgbClr val="17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48472" y="1965960"/>
            <a:ext cx="45720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>
                <a:solidFill>
                  <a:srgbClr val="F97316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8472" y="2395728"/>
            <a:ext cx="310896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DEPLOYMENT READY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852928"/>
            <a:ext cx="3017520" cy="5943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150" b="0">
                <a:solidFill>
                  <a:srgbClr val="E2E8F0"/>
                </a:solidFill>
                <a:latin typeface="Aptos"/>
              </a:rPr>
              <a:t>The model can be stored locally with configuration, weights and tokenizer files.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977639"/>
            <a:ext cx="6400800" cy="1554480"/>
          </a:xfrm>
          <a:prstGeom prst="roundRect">
            <a:avLst/>
          </a:prstGeom>
          <a:solidFill>
            <a:srgbClr val="173B63"/>
          </a:solidFill>
          <a:ln>
            <a:solidFill>
              <a:srgbClr val="17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4187952"/>
            <a:ext cx="283464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50" b="1">
                <a:solidFill>
                  <a:srgbClr val="F97316"/>
                </a:solidFill>
                <a:latin typeface="Aptos"/>
              </a:rPr>
              <a:t>SKILL EXTRACTION PERFORMANCE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681728"/>
            <a:ext cx="155448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Transformer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23160" y="4590288"/>
            <a:ext cx="425196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220" b="1">
                <a:solidFill>
                  <a:srgbClr val="E2E8F0"/>
                </a:solidFill>
                <a:latin typeface="Aptos"/>
              </a:rPr>
              <a:t>Accuracy  0.636   |   Precision  0.916   |   Recall  0.636   |   F1  0.751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23760" y="3977639"/>
            <a:ext cx="4251960" cy="1554480"/>
          </a:xfrm>
          <a:prstGeom prst="roundRect">
            <a:avLst/>
          </a:prstGeom>
          <a:solidFill>
            <a:srgbClr val="FFF1E6"/>
          </a:solidFill>
          <a:ln>
            <a:solidFill>
              <a:srgbClr val="FFF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52360" y="4187952"/>
            <a:ext cx="3749039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50" b="1">
                <a:solidFill>
                  <a:srgbClr val="0B1F3A"/>
                </a:solidFill>
                <a:latin typeface="Aptos"/>
              </a:rPr>
              <a:t>TOKEN OUTPUT EXAMPLE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60" y="4590288"/>
            <a:ext cx="3703320" cy="6400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200" b="0">
                <a:solidFill>
                  <a:srgbClr val="0B1F3A"/>
                </a:solidFill>
                <a:latin typeface="Aptos"/>
              </a:rPr>
              <a:t>del → ORG 0.943
##oit → ORG 0.979
##te → ORG 0.984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473952"/>
            <a:ext cx="1078992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SkillSense  •  Intelligent Job Skill Analysis  |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84048"/>
            <a:ext cx="10789920" cy="47548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FINAL SKILL EXTRACTION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960120"/>
            <a:ext cx="658368" cy="50292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1234440"/>
            <a:ext cx="10698480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600" b="0">
                <a:solidFill>
                  <a:srgbClr val="E2E8F0"/>
                </a:solidFill>
                <a:latin typeface="Aptos"/>
              </a:rPr>
              <a:t>Performance across four skill extraction methods.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2560320" cy="566928"/>
          </a:xfrm>
          <a:prstGeom prst="round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993392"/>
            <a:ext cx="2468879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100" b="1">
                <a:solidFill>
                  <a:srgbClr val="0B1F3A"/>
                </a:solidFill>
                <a:latin typeface="Aptos"/>
              </a:rPr>
              <a:t>Method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1828800"/>
            <a:ext cx="1234440" cy="566928"/>
          </a:xfrm>
          <a:prstGeom prst="round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703320" y="1993392"/>
            <a:ext cx="11430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100" b="1">
                <a:solidFill>
                  <a:srgbClr val="0B1F3A"/>
                </a:solidFill>
                <a:latin typeface="Aptos"/>
              </a:rPr>
              <a:t>Accuracy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66360" y="1828800"/>
            <a:ext cx="1234440" cy="566928"/>
          </a:xfrm>
          <a:prstGeom prst="round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212080" y="1993392"/>
            <a:ext cx="11430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100" b="1">
                <a:solidFill>
                  <a:srgbClr val="0B1F3A"/>
                </a:solidFill>
                <a:latin typeface="Aptos"/>
              </a:rPr>
              <a:t>Precision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1828800"/>
            <a:ext cx="1234440" cy="566928"/>
          </a:xfrm>
          <a:prstGeom prst="round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75120" y="1993392"/>
            <a:ext cx="11430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100" b="1">
                <a:solidFill>
                  <a:srgbClr val="0B1F3A"/>
                </a:solidFill>
                <a:latin typeface="Aptos"/>
              </a:rPr>
              <a:t>Recall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828800"/>
            <a:ext cx="1463040" cy="566928"/>
          </a:xfrm>
          <a:prstGeom prst="round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38160" y="1993392"/>
            <a:ext cx="13716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100" b="1">
                <a:solidFill>
                  <a:srgbClr val="0B1F3A"/>
                </a:solidFill>
                <a:latin typeface="Aptos"/>
              </a:rPr>
              <a:t>F1 Score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578608"/>
            <a:ext cx="2560320" cy="530352"/>
          </a:xfrm>
          <a:prstGeom prst="roundRect">
            <a:avLst/>
          </a:prstGeom>
          <a:solidFill>
            <a:srgbClr val="173B63"/>
          </a:solidFill>
          <a:ln>
            <a:solidFill>
              <a:srgbClr val="17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2724912"/>
            <a:ext cx="2468879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ptos"/>
              </a:rPr>
              <a:t>Dictionary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0" y="2578608"/>
            <a:ext cx="1234440" cy="530352"/>
          </a:xfrm>
          <a:prstGeom prst="roundRect">
            <a:avLst/>
          </a:prstGeom>
          <a:solidFill>
            <a:srgbClr val="173B63"/>
          </a:solidFill>
          <a:ln>
            <a:solidFill>
              <a:srgbClr val="17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703320" y="2724912"/>
            <a:ext cx="11430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150" b="0">
                <a:solidFill>
                  <a:srgbClr val="E2E8F0"/>
                </a:solidFill>
                <a:latin typeface="Aptos"/>
              </a:rPr>
              <a:t>0.620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66360" y="2578608"/>
            <a:ext cx="1234440" cy="530352"/>
          </a:xfrm>
          <a:prstGeom prst="roundRect">
            <a:avLst/>
          </a:prstGeom>
          <a:solidFill>
            <a:srgbClr val="173B63"/>
          </a:solidFill>
          <a:ln>
            <a:solidFill>
              <a:srgbClr val="17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212080" y="2724912"/>
            <a:ext cx="11430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150" b="0">
                <a:solidFill>
                  <a:srgbClr val="E2E8F0"/>
                </a:solidFill>
                <a:latin typeface="Aptos"/>
              </a:rPr>
              <a:t>0.583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29400" y="2578608"/>
            <a:ext cx="1234440" cy="530352"/>
          </a:xfrm>
          <a:prstGeom prst="roundRect">
            <a:avLst/>
          </a:prstGeom>
          <a:solidFill>
            <a:srgbClr val="173B63"/>
          </a:solidFill>
          <a:ln>
            <a:solidFill>
              <a:srgbClr val="17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75120" y="2724912"/>
            <a:ext cx="11430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150" b="0">
                <a:solidFill>
                  <a:srgbClr val="E2E8F0"/>
                </a:solidFill>
                <a:latin typeface="Aptos"/>
              </a:rPr>
              <a:t>0.620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92440" y="2578608"/>
            <a:ext cx="1463040" cy="530352"/>
          </a:xfrm>
          <a:prstGeom prst="roundRect">
            <a:avLst/>
          </a:prstGeom>
          <a:solidFill>
            <a:srgbClr val="173B63"/>
          </a:solidFill>
          <a:ln>
            <a:solidFill>
              <a:srgbClr val="17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138160" y="2724912"/>
            <a:ext cx="13716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150" b="0">
                <a:solidFill>
                  <a:srgbClr val="E2E8F0"/>
                </a:solidFill>
                <a:latin typeface="Aptos"/>
              </a:rPr>
              <a:t>0.601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3236976"/>
            <a:ext cx="2560320" cy="530352"/>
          </a:xfrm>
          <a:prstGeom prst="roundRect">
            <a:avLst/>
          </a:prstGeom>
          <a:solidFill>
            <a:srgbClr val="173B63"/>
          </a:solidFill>
          <a:ln>
            <a:solidFill>
              <a:srgbClr val="17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960" y="3383280"/>
            <a:ext cx="2468879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ptos"/>
              </a:rPr>
              <a:t>Regex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0" y="3236976"/>
            <a:ext cx="1234440" cy="530352"/>
          </a:xfrm>
          <a:prstGeom prst="roundRect">
            <a:avLst/>
          </a:prstGeom>
          <a:solidFill>
            <a:srgbClr val="173B63"/>
          </a:solidFill>
          <a:ln>
            <a:solidFill>
              <a:srgbClr val="17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703320" y="3383280"/>
            <a:ext cx="11430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150" b="0">
                <a:solidFill>
                  <a:srgbClr val="E2E8F0"/>
                </a:solidFill>
                <a:latin typeface="Aptos"/>
              </a:rPr>
              <a:t>0.052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166360" y="3236976"/>
            <a:ext cx="1234440" cy="530352"/>
          </a:xfrm>
          <a:prstGeom prst="roundRect">
            <a:avLst/>
          </a:prstGeom>
          <a:solidFill>
            <a:srgbClr val="173B63"/>
          </a:solidFill>
          <a:ln>
            <a:solidFill>
              <a:srgbClr val="17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212080" y="3383280"/>
            <a:ext cx="11430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150" b="0">
                <a:solidFill>
                  <a:srgbClr val="E2E8F0"/>
                </a:solidFill>
                <a:latin typeface="Aptos"/>
              </a:rPr>
              <a:t>0.567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29400" y="3236976"/>
            <a:ext cx="1234440" cy="530352"/>
          </a:xfrm>
          <a:prstGeom prst="roundRect">
            <a:avLst/>
          </a:prstGeom>
          <a:solidFill>
            <a:srgbClr val="173B63"/>
          </a:solidFill>
          <a:ln>
            <a:solidFill>
              <a:srgbClr val="17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675120" y="3383280"/>
            <a:ext cx="11430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150" b="0">
                <a:solidFill>
                  <a:srgbClr val="E2E8F0"/>
                </a:solidFill>
                <a:latin typeface="Aptos"/>
              </a:rPr>
              <a:t>0.052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92440" y="3236976"/>
            <a:ext cx="1463040" cy="530352"/>
          </a:xfrm>
          <a:prstGeom prst="roundRect">
            <a:avLst/>
          </a:prstGeom>
          <a:solidFill>
            <a:srgbClr val="173B63"/>
          </a:solidFill>
          <a:ln>
            <a:solidFill>
              <a:srgbClr val="17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138160" y="3383280"/>
            <a:ext cx="13716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150" b="0">
                <a:solidFill>
                  <a:srgbClr val="E2E8F0"/>
                </a:solidFill>
                <a:latin typeface="Aptos"/>
              </a:rPr>
              <a:t>0.096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7240" y="3895344"/>
            <a:ext cx="2560320" cy="530352"/>
          </a:xfrm>
          <a:prstGeom prst="roundRect">
            <a:avLst/>
          </a:prstGeom>
          <a:solidFill>
            <a:srgbClr val="173B63"/>
          </a:solidFill>
          <a:ln>
            <a:solidFill>
              <a:srgbClr val="17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22960" y="4041648"/>
            <a:ext cx="2468879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ptos"/>
              </a:rPr>
              <a:t>Semantic Similarity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57600" y="3895344"/>
            <a:ext cx="1234440" cy="530352"/>
          </a:xfrm>
          <a:prstGeom prst="roundRect">
            <a:avLst/>
          </a:prstGeom>
          <a:solidFill>
            <a:srgbClr val="173B63"/>
          </a:solidFill>
          <a:ln>
            <a:solidFill>
              <a:srgbClr val="17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703320" y="4041648"/>
            <a:ext cx="11430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150" b="0">
                <a:solidFill>
                  <a:srgbClr val="E2E8F0"/>
                </a:solidFill>
                <a:latin typeface="Aptos"/>
              </a:rPr>
              <a:t>0.036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166360" y="3895344"/>
            <a:ext cx="1234440" cy="530352"/>
          </a:xfrm>
          <a:prstGeom prst="roundRect">
            <a:avLst/>
          </a:prstGeom>
          <a:solidFill>
            <a:srgbClr val="173B63"/>
          </a:solidFill>
          <a:ln>
            <a:solidFill>
              <a:srgbClr val="17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212080" y="4041648"/>
            <a:ext cx="11430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150" b="0">
                <a:solidFill>
                  <a:srgbClr val="E2E8F0"/>
                </a:solidFill>
                <a:latin typeface="Aptos"/>
              </a:rPr>
              <a:t>0.852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629400" y="3895344"/>
            <a:ext cx="1234440" cy="530352"/>
          </a:xfrm>
          <a:prstGeom prst="roundRect">
            <a:avLst/>
          </a:prstGeom>
          <a:solidFill>
            <a:srgbClr val="173B63"/>
          </a:solidFill>
          <a:ln>
            <a:solidFill>
              <a:srgbClr val="17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675120" y="4041648"/>
            <a:ext cx="11430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150" b="0">
                <a:solidFill>
                  <a:srgbClr val="E2E8F0"/>
                </a:solidFill>
                <a:latin typeface="Aptos"/>
              </a:rPr>
              <a:t>0.036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092440" y="3895344"/>
            <a:ext cx="1463040" cy="530352"/>
          </a:xfrm>
          <a:prstGeom prst="roundRect">
            <a:avLst/>
          </a:prstGeom>
          <a:solidFill>
            <a:srgbClr val="173B63"/>
          </a:solidFill>
          <a:ln>
            <a:solidFill>
              <a:srgbClr val="17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138160" y="4041648"/>
            <a:ext cx="13716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150" b="0">
                <a:solidFill>
                  <a:srgbClr val="E2E8F0"/>
                </a:solidFill>
                <a:latin typeface="Aptos"/>
              </a:rPr>
              <a:t>0.069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77240" y="4553712"/>
            <a:ext cx="2560320" cy="530352"/>
          </a:xfrm>
          <a:prstGeom prst="roundRect">
            <a:avLst/>
          </a:prstGeom>
          <a:solidFill>
            <a:srgbClr val="1E4B73"/>
          </a:solidFill>
          <a:ln>
            <a:solidFill>
              <a:srgbClr val="1E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22960" y="4700016"/>
            <a:ext cx="2468879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ptos"/>
              </a:rPr>
              <a:t>Transformer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657600" y="4553712"/>
            <a:ext cx="1234440" cy="530352"/>
          </a:xfrm>
          <a:prstGeom prst="roundRect">
            <a:avLst/>
          </a:prstGeom>
          <a:solidFill>
            <a:srgbClr val="1E4B73"/>
          </a:solidFill>
          <a:ln>
            <a:solidFill>
              <a:srgbClr val="1E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703320" y="4700016"/>
            <a:ext cx="11430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150" b="0">
                <a:solidFill>
                  <a:srgbClr val="E2E8F0"/>
                </a:solidFill>
                <a:latin typeface="Aptos"/>
              </a:rPr>
              <a:t>0.636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166360" y="4553712"/>
            <a:ext cx="1234440" cy="530352"/>
          </a:xfrm>
          <a:prstGeom prst="roundRect">
            <a:avLst/>
          </a:prstGeom>
          <a:solidFill>
            <a:srgbClr val="1E4B73"/>
          </a:solidFill>
          <a:ln>
            <a:solidFill>
              <a:srgbClr val="1E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212080" y="4700016"/>
            <a:ext cx="11430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150" b="0">
                <a:solidFill>
                  <a:srgbClr val="E2E8F0"/>
                </a:solidFill>
                <a:latin typeface="Aptos"/>
              </a:rPr>
              <a:t>0.916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629400" y="4553712"/>
            <a:ext cx="1234440" cy="530352"/>
          </a:xfrm>
          <a:prstGeom prst="roundRect">
            <a:avLst/>
          </a:prstGeom>
          <a:solidFill>
            <a:srgbClr val="1E4B73"/>
          </a:solidFill>
          <a:ln>
            <a:solidFill>
              <a:srgbClr val="1E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675120" y="4700016"/>
            <a:ext cx="11430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150" b="0">
                <a:solidFill>
                  <a:srgbClr val="E2E8F0"/>
                </a:solidFill>
                <a:latin typeface="Aptos"/>
              </a:rPr>
              <a:t>0.636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092440" y="4553712"/>
            <a:ext cx="1463040" cy="530352"/>
          </a:xfrm>
          <a:prstGeom prst="roundRect">
            <a:avLst/>
          </a:prstGeom>
          <a:solidFill>
            <a:srgbClr val="1E4B73"/>
          </a:solidFill>
          <a:ln>
            <a:solidFill>
              <a:srgbClr val="1E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138160" y="4700016"/>
            <a:ext cx="13716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150" b="0">
                <a:solidFill>
                  <a:srgbClr val="E2E8F0"/>
                </a:solidFill>
                <a:latin typeface="Aptos"/>
              </a:rPr>
              <a:t>0.751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77240" y="5349240"/>
            <a:ext cx="10058400" cy="658368"/>
          </a:xfrm>
          <a:prstGeom prst="roundRect">
            <a:avLst/>
          </a:prstGeom>
          <a:solidFill>
            <a:srgbClr val="173B63"/>
          </a:solidFill>
          <a:ln>
            <a:solidFill>
              <a:srgbClr val="17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60120" y="5550408"/>
            <a:ext cx="969264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220" b="1">
                <a:solidFill>
                  <a:srgbClr val="FFFFFF"/>
                </a:solidFill>
                <a:latin typeface="Aptos"/>
              </a:rPr>
              <a:t>BEST OVERALL EXTRACTION RESULT  →  Transformer: Accuracy 0.636  •  Precision 0.916  •  Recall 0.636  •  F1 0.751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5800" y="6473952"/>
            <a:ext cx="1078992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SkillSense  •  Intelligent Job Skill Analysis  |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84048"/>
            <a:ext cx="10789920" cy="47548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ERROR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960120"/>
            <a:ext cx="658368" cy="50292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57800" cy="1463040"/>
          </a:xfrm>
          <a:prstGeom prst="roundRect">
            <a:avLst/>
          </a:prstGeom>
          <a:solidFill>
            <a:srgbClr val="173B63"/>
          </a:solidFill>
          <a:ln>
            <a:solidFill>
              <a:srgbClr val="17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96112" y="1828800"/>
            <a:ext cx="45720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>
                <a:solidFill>
                  <a:srgbClr val="F97316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810512"/>
            <a:ext cx="425196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Ambiguous Terms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212848"/>
            <a:ext cx="4251960" cy="6217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50" b="0">
                <a:solidFill>
                  <a:srgbClr val="E2E8F0"/>
                </a:solidFill>
                <a:latin typeface="Aptos"/>
              </a:rPr>
              <a:t>A term may have different meanings depending on job context.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645920"/>
            <a:ext cx="5257800" cy="1463040"/>
          </a:xfrm>
          <a:prstGeom prst="roundRect">
            <a:avLst/>
          </a:prstGeom>
          <a:solidFill>
            <a:srgbClr val="173B63"/>
          </a:solidFill>
          <a:ln>
            <a:solidFill>
              <a:srgbClr val="17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36792" y="1828800"/>
            <a:ext cx="45720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>
                <a:solidFill>
                  <a:srgbClr val="F97316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3720" y="1810512"/>
            <a:ext cx="425196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Unseen Skills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2212848"/>
            <a:ext cx="4251960" cy="6217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50" b="0">
                <a:solidFill>
                  <a:srgbClr val="E2E8F0"/>
                </a:solidFill>
                <a:latin typeface="Aptos"/>
              </a:rPr>
              <a:t>Skills not represented in training vocabulary or patterns can be missed.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29000"/>
            <a:ext cx="5257800" cy="1463040"/>
          </a:xfrm>
          <a:prstGeom prst="roundRect">
            <a:avLst/>
          </a:prstGeom>
          <a:solidFill>
            <a:srgbClr val="173B63"/>
          </a:solidFill>
          <a:ln>
            <a:solidFill>
              <a:srgbClr val="17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96112" y="3611880"/>
            <a:ext cx="45720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>
                <a:solidFill>
                  <a:srgbClr val="F97316"/>
                </a:solidFill>
                <a:latin typeface="Apto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593592"/>
            <a:ext cx="425196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Tokenization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995928"/>
            <a:ext cx="4251960" cy="6217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50" b="0">
                <a:solidFill>
                  <a:srgbClr val="E2E8F0"/>
                </a:solidFill>
                <a:latin typeface="Aptos"/>
              </a:rPr>
              <a:t>Subword tokenization can split skill names across multiple tokens.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429000"/>
            <a:ext cx="5257800" cy="1463040"/>
          </a:xfrm>
          <a:prstGeom prst="roundRect">
            <a:avLst/>
          </a:prstGeom>
          <a:solidFill>
            <a:srgbClr val="173B63"/>
          </a:solidFill>
          <a:ln>
            <a:solidFill>
              <a:srgbClr val="17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36792" y="3611880"/>
            <a:ext cx="45720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>
                <a:solidFill>
                  <a:srgbClr val="F97316"/>
                </a:solidFill>
                <a:latin typeface="Aptos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3593592"/>
            <a:ext cx="425196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Similar Entities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3995928"/>
            <a:ext cx="4251960" cy="6217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50" b="0">
                <a:solidFill>
                  <a:srgbClr val="E2E8F0"/>
                </a:solidFill>
                <a:latin typeface="Aptos"/>
              </a:rPr>
              <a:t>Related technologies or phrases can be difficult to separate precisely.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257800"/>
            <a:ext cx="10698480" cy="640080"/>
          </a:xfrm>
          <a:prstGeom prst="round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5449824"/>
            <a:ext cx="1033272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200" b="1">
                <a:solidFill>
                  <a:srgbClr val="0B1F3A"/>
                </a:solidFill>
                <a:latin typeface="Aptos"/>
              </a:rPr>
              <a:t>Observed transformer tokenization example: del / ##oit / ##te were classified as ORG.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6473952"/>
            <a:ext cx="1078992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SkillSense  •  Intelligent Job Skill Analysis  |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84048"/>
            <a:ext cx="10789920" cy="47548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DASHBOARD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960120"/>
            <a:ext cx="658368" cy="50292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1234440"/>
            <a:ext cx="10698480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600" b="0">
                <a:solidFill>
                  <a:srgbClr val="E2E8F0"/>
                </a:solidFill>
                <a:latin typeface="Aptos"/>
              </a:rPr>
              <a:t>NLP Job Market &amp; Skill Analytics — Power BI Dashboard</a:t>
            </a:r>
          </a:p>
        </p:txBody>
      </p:sp>
      <p:pic>
        <p:nvPicPr>
          <p:cNvPr id="6" name="Picture 5" descr="dashboard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10771632" cy="44074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6007608"/>
            <a:ext cx="10607040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50" b="0">
                <a:solidFill>
                  <a:srgbClr val="E2E8F0"/>
                </a:solidFill>
                <a:latin typeface="Aptos"/>
              </a:rPr>
              <a:t>Dashboard highlights: 4,292 total jobs • 58 unique skills • Top skill: SQL • Top job role: Software Engineer • Top category: Machine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73952"/>
            <a:ext cx="1078992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SkillSense  •  Intelligent Job Skill Analysis  |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84048"/>
            <a:ext cx="10789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APPLICATION 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960120"/>
            <a:ext cx="658368" cy="50292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6473952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SkillSense  •  Intelligent Job Skill Analysis  | 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2E8F0"/>
                </a:solidFill>
                <a:latin typeface="Aptos"/>
              </a:rPr>
              <a:t>SkillSense web application for intelligent job-description analysis.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55648"/>
            <a:ext cx="5166360" cy="3703320"/>
          </a:xfrm>
          <a:prstGeom prst="roundRect">
            <a:avLst/>
          </a:prstGeom>
          <a:solidFill>
            <a:srgbClr val="173B63"/>
          </a:solidFill>
          <a:ln>
            <a:solidFill>
              <a:srgbClr val="17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920240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97316"/>
                </a:solidFill>
                <a:latin typeface="Aptos"/>
              </a:rPr>
              <a:t>01  LOGIN</a:t>
            </a:r>
          </a:p>
        </p:txBody>
      </p:sp>
      <p:pic>
        <p:nvPicPr>
          <p:cNvPr id="8" name="Picture 7" descr="b0c93fa9-f666-487c-8f85-4ff12af53f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2304288"/>
            <a:ext cx="4873752" cy="28803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309360" y="1755648"/>
            <a:ext cx="5166360" cy="3703320"/>
          </a:xfrm>
          <a:prstGeom prst="roundRect">
            <a:avLst/>
          </a:prstGeom>
          <a:solidFill>
            <a:srgbClr val="173B63"/>
          </a:solidFill>
          <a:ln>
            <a:solidFill>
              <a:srgbClr val="17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920240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97316"/>
                </a:solidFill>
                <a:latin typeface="Aptos"/>
              </a:rPr>
              <a:t>02  ANALYSIS HOME</a:t>
            </a:r>
          </a:p>
        </p:txBody>
      </p:sp>
      <p:pic>
        <p:nvPicPr>
          <p:cNvPr id="11" name="Picture 10" descr="2f78b7c0-bb15-428e-8d64-c9751d11396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664" y="2304288"/>
            <a:ext cx="4873752" cy="28803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31520" y="5650992"/>
            <a:ext cx="10744200" cy="475488"/>
          </a:xfrm>
          <a:prstGeom prst="round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5779008"/>
            <a:ext cx="10378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0B1F3A"/>
                </a:solidFill>
                <a:latin typeface="Aptos"/>
              </a:rPr>
              <a:t>LOGIN  →  ENTER JOB DESCRIPTION  →  ANALYZE  →  VIEW SKILL RESULTS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84048"/>
            <a:ext cx="10789920" cy="47548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960120"/>
            <a:ext cx="658368" cy="50292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880360" cy="2743200"/>
          </a:xfrm>
          <a:prstGeom prst="roundRect">
            <a:avLst/>
          </a:prstGeom>
          <a:solidFill>
            <a:srgbClr val="173B63"/>
          </a:solidFill>
          <a:ln>
            <a:solidFill>
              <a:srgbClr val="17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6112" y="1810512"/>
            <a:ext cx="502920" cy="310896"/>
          </a:xfrm>
          <a:prstGeom prst="round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819656"/>
            <a:ext cx="502920" cy="24688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251460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650" b="1">
                <a:solidFill>
                  <a:srgbClr val="FFFFFF"/>
                </a:solidFill>
                <a:latin typeface="Aptos"/>
              </a:rPr>
              <a:t>Automated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88920"/>
            <a:ext cx="2514600" cy="1463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20" b="0">
                <a:solidFill>
                  <a:srgbClr val="E2E8F0"/>
                </a:solidFill>
                <a:latin typeface="Aptos"/>
              </a:rPr>
              <a:t>NLP can reduce the manual effort required to identify skills in job descriptions.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77639" y="1645920"/>
            <a:ext cx="2880360" cy="2743200"/>
          </a:xfrm>
          <a:prstGeom prst="roundRect">
            <a:avLst/>
          </a:prstGeom>
          <a:solidFill>
            <a:srgbClr val="173B63"/>
          </a:solidFill>
          <a:ln>
            <a:solidFill>
              <a:srgbClr val="17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142231" y="1810512"/>
            <a:ext cx="502920" cy="310896"/>
          </a:xfrm>
          <a:prstGeom prst="round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42231" y="1819656"/>
            <a:ext cx="502920" cy="24688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2286000"/>
            <a:ext cx="251460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650" b="1">
                <a:solidFill>
                  <a:srgbClr val="FFFFFF"/>
                </a:solidFill>
                <a:latin typeface="Aptos"/>
              </a:rPr>
              <a:t>Multiple Approaches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2788920"/>
            <a:ext cx="2514600" cy="1463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20" b="0">
                <a:solidFill>
                  <a:srgbClr val="E2E8F0"/>
                </a:solidFill>
                <a:latin typeface="Aptos"/>
              </a:rPr>
              <a:t>Rule-based, classical ML and transformer methods provide complementary capabilities.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23760" y="1645920"/>
            <a:ext cx="2880360" cy="2743200"/>
          </a:xfrm>
          <a:prstGeom prst="roundRect">
            <a:avLst/>
          </a:prstGeom>
          <a:solidFill>
            <a:srgbClr val="173B63"/>
          </a:solidFill>
          <a:ln>
            <a:solidFill>
              <a:srgbClr val="17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388352" y="1810512"/>
            <a:ext cx="502920" cy="310896"/>
          </a:xfrm>
          <a:prstGeom prst="round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88352" y="1819656"/>
            <a:ext cx="502920" cy="24688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2286000"/>
            <a:ext cx="251460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650" b="1">
                <a:solidFill>
                  <a:srgbClr val="FFFFFF"/>
                </a:solidFill>
                <a:latin typeface="Aptos"/>
              </a:rPr>
              <a:t>Actionable Insights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2788920"/>
            <a:ext cx="2514600" cy="1463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20" b="0">
                <a:solidFill>
                  <a:srgbClr val="E2E8F0"/>
                </a:solidFill>
                <a:latin typeface="Aptos"/>
              </a:rPr>
              <a:t>Extracted skills can support recruitment, market analysis and career decisions.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892040"/>
            <a:ext cx="10698480" cy="777240"/>
          </a:xfrm>
          <a:prstGeom prst="roundRect">
            <a:avLst/>
          </a:prstGeom>
          <a:solidFill>
            <a:srgbClr val="173B63"/>
          </a:solidFill>
          <a:ln>
            <a:solidFill>
              <a:srgbClr val="17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5138928"/>
            <a:ext cx="1033272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SkillSense bridges unstructured job text and structured skill intelligence.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473952"/>
            <a:ext cx="1078992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>
                <a:solidFill>
                  <a:srgbClr val="94A3B8"/>
                </a:solidFill>
                <a:latin typeface="Aptos"/>
              </a:rPr>
              <a:t>SkillSense  •  Intelligent Job Skill Analysis  |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84048"/>
            <a:ext cx="10789920" cy="47548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FUTURE IMPROVEMENTS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960120"/>
            <a:ext cx="658368" cy="50292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57800" cy="1691640"/>
          </a:xfrm>
          <a:prstGeom prst="roundRect">
            <a:avLst/>
          </a:prstGeom>
          <a:solidFill>
            <a:srgbClr val="173B63"/>
          </a:solidFill>
          <a:ln>
            <a:solidFill>
              <a:srgbClr val="17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6112" y="1810512"/>
            <a:ext cx="502920" cy="310896"/>
          </a:xfrm>
          <a:prstGeom prst="round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819656"/>
            <a:ext cx="502920" cy="24688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489204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650" b="1">
                <a:solidFill>
                  <a:srgbClr val="FFFFFF"/>
                </a:solidFill>
                <a:latin typeface="Aptos"/>
              </a:rPr>
              <a:t>Domain Fine-Tuning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88920"/>
            <a:ext cx="4892040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20" b="0">
                <a:solidFill>
                  <a:srgbClr val="E2E8F0"/>
                </a:solidFill>
                <a:latin typeface="Aptos"/>
              </a:rPr>
              <a:t>Fine-tune transformer models on domain-specific job-description data.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45920"/>
            <a:ext cx="5257800" cy="1691640"/>
          </a:xfrm>
          <a:prstGeom prst="roundRect">
            <a:avLst/>
          </a:prstGeom>
          <a:solidFill>
            <a:srgbClr val="173B63"/>
          </a:solidFill>
          <a:ln>
            <a:solidFill>
              <a:srgbClr val="17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336792" y="1810512"/>
            <a:ext cx="502920" cy="310896"/>
          </a:xfrm>
          <a:prstGeom prst="round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36792" y="1819656"/>
            <a:ext cx="502920" cy="24688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286000"/>
            <a:ext cx="489204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650" b="1">
                <a:solidFill>
                  <a:srgbClr val="FFFFFF"/>
                </a:solidFill>
                <a:latin typeface="Aptos"/>
              </a:rPr>
              <a:t>Skill Ontology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788920"/>
            <a:ext cx="4892040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20" b="0">
                <a:solidFill>
                  <a:srgbClr val="E2E8F0"/>
                </a:solidFill>
                <a:latin typeface="Aptos"/>
              </a:rPr>
              <a:t>Build a richer skill taxonomy with related skills, aliases and technology families.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03320"/>
            <a:ext cx="5257800" cy="1691640"/>
          </a:xfrm>
          <a:prstGeom prst="roundRect">
            <a:avLst/>
          </a:prstGeom>
          <a:solidFill>
            <a:srgbClr val="173B63"/>
          </a:solidFill>
          <a:ln>
            <a:solidFill>
              <a:srgbClr val="17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96112" y="3867911"/>
            <a:ext cx="502920" cy="310896"/>
          </a:xfrm>
          <a:prstGeom prst="round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6112" y="3877056"/>
            <a:ext cx="502920" cy="24688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343400"/>
            <a:ext cx="489204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650" b="1">
                <a:solidFill>
                  <a:srgbClr val="FFFFFF"/>
                </a:solidFill>
                <a:latin typeface="Aptos"/>
              </a:rPr>
              <a:t>Advanced Matching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846320"/>
            <a:ext cx="4892040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20" b="0">
                <a:solidFill>
                  <a:srgbClr val="E2E8F0"/>
                </a:solidFill>
                <a:latin typeface="Aptos"/>
              </a:rPr>
              <a:t>Add resume-to-job skill matching and automated skill-gap scoring.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703320"/>
            <a:ext cx="5257800" cy="1691640"/>
          </a:xfrm>
          <a:prstGeom prst="roundRect">
            <a:avLst/>
          </a:prstGeom>
          <a:solidFill>
            <a:srgbClr val="173B63"/>
          </a:solidFill>
          <a:ln>
            <a:solidFill>
              <a:srgbClr val="17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336792" y="3867911"/>
            <a:ext cx="502920" cy="310896"/>
          </a:xfrm>
          <a:prstGeom prst="round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36792" y="3877056"/>
            <a:ext cx="502920" cy="24688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4343400"/>
            <a:ext cx="489204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650" b="1">
                <a:solidFill>
                  <a:srgbClr val="FFFFFF"/>
                </a:solidFill>
                <a:latin typeface="Aptos"/>
              </a:rPr>
              <a:t>Live Market Insights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4846320"/>
            <a:ext cx="4892040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20" b="0">
                <a:solidFill>
                  <a:srgbClr val="E2E8F0"/>
                </a:solidFill>
                <a:latin typeface="Aptos"/>
              </a:rPr>
              <a:t>Integrate updated job data to monitor changing skill demand over time.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60" y="5897880"/>
            <a:ext cx="4114800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2600" b="1">
                <a:solidFill>
                  <a:srgbClr val="F97316"/>
                </a:solidFill>
                <a:latin typeface="Aptos"/>
              </a:rPr>
              <a:t>THANK YOU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473952"/>
            <a:ext cx="1078992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>
                <a:solidFill>
                  <a:srgbClr val="94A3B8"/>
                </a:solidFill>
                <a:latin typeface="Aptos"/>
              </a:rPr>
              <a:t>SkillSense  •  Intelligent Job Skill Analysis  | 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1072</Words>
  <Application>Microsoft Office PowerPoint</Application>
  <PresentationFormat>Widescreen</PresentationFormat>
  <Paragraphs>254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Avinash Padghan</cp:lastModifiedBy>
  <cp:revision>1</cp:revision>
  <dcterms:created xsi:type="dcterms:W3CDTF">2013-01-27T09:14:16Z</dcterms:created>
  <dcterms:modified xsi:type="dcterms:W3CDTF">2026-09-06T05:56:34Z</dcterms:modified>
  <cp:category/>
</cp:coreProperties>
</file>